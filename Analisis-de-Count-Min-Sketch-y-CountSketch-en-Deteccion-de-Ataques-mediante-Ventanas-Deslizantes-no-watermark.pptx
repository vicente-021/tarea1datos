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12191675"/>
  <p:embeddedFontLst>
    <p:embeddedFont>
      <p:font typeface="Source Sans 3"/>
      <p:regular r:id="rId19"/>
      <p:bold r:id="rId20"/>
      <p:italic r:id="rId21"/>
      <p:boldItalic r:id="rId22"/>
    </p:embeddedFon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349681-CA61-4A56-929F-855FA4635AE5}">
  <a:tblStyle styleId="{BA349681-CA61-4A56-929F-855FA4635A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bold.fntdata"/><Relationship Id="rId22" Type="http://schemas.openxmlformats.org/officeDocument/2006/relationships/font" Target="fonts/SourceSans3-boldItalic.fntdata"/><Relationship Id="rId21" Type="http://schemas.openxmlformats.org/officeDocument/2006/relationships/font" Target="fonts/SourceSans3-italic.fntdata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SourceSans3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h3a2180af24fa56d8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h3a2180af24fa56d8_1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h3a2180af24fa56d8_1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3a2180af24fa56d8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h3a2180af24fa56d8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h3a2180af24fa56d8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3a2180af24fa56d8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h3a2180af24fa56d8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h3a2180af24fa56d8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3a2180af24fa56d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h3a2180af24fa56d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h3a2180af24fa56d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3a2180af24fa56d8_1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h3a2180af24fa56d8_1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3a2180af24fa56d8_1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5269975" y="1064250"/>
            <a:ext cx="3897000" cy="321600"/>
          </a:xfrm>
          <a:prstGeom prst="roundRect">
            <a:avLst>
              <a:gd fmla="val 7897" name="adj"/>
            </a:avLst>
          </a:prstGeom>
          <a:solidFill>
            <a:srgbClr val="4904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462075" y="1142500"/>
            <a:ext cx="3589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lang="en-US" sz="12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Tópicos en el manejo de grandes </a:t>
            </a:r>
            <a:r>
              <a:rPr lang="en-US" sz="12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volúmenes</a:t>
            </a:r>
            <a:r>
              <a:rPr lang="en-US" sz="12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datos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69975" y="1525400"/>
            <a:ext cx="6223500" cy="30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650"/>
              <a:buFont typeface="Lora"/>
              <a:buNone/>
            </a:pPr>
            <a:r>
              <a:rPr lang="en-US" sz="365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Análisis de Count-Min Sketch y CountSketch en detección de ataques mediante ventanas deslizantes</a:t>
            </a:r>
            <a:endParaRPr sz="3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270000" y="4598350"/>
            <a:ext cx="4572000" cy="19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Source Sans 3"/>
              <a:buNone/>
            </a:pPr>
            <a:r>
              <a:rPr lang="en-US" sz="15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Integrantes:						</a:t>
            </a:r>
            <a:endParaRPr sz="15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Source Sans 3"/>
              <a:buNone/>
            </a:pPr>
            <a:r>
              <a:rPr lang="en-US" sz="15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Joaquín Arriagada</a:t>
            </a:r>
            <a:endParaRPr sz="15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Source Sans 3"/>
              <a:buNone/>
            </a:pPr>
            <a:r>
              <a:rPr lang="en-US" sz="15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Benjamín Díaz</a:t>
            </a:r>
            <a:endParaRPr sz="15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Source Sans 3"/>
              <a:buNone/>
            </a:pPr>
            <a:r>
              <a:rPr lang="en-US" sz="15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Vicente Hernández</a:t>
            </a:r>
            <a:endParaRPr sz="15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Source Sans 3"/>
              <a:buNone/>
            </a:pPr>
            <a:r>
              <a:t/>
            </a:r>
            <a:endParaRPr sz="15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Source Sans 3"/>
              <a:buNone/>
            </a:pPr>
            <a:r>
              <a:rPr lang="en-US" sz="15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Profesores:  Cecilia Hernández, Álvaro Guzmán</a:t>
            </a:r>
            <a:endParaRPr sz="15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Source Sans 3"/>
              <a:buNone/>
            </a:pPr>
            <a:r>
              <a:t/>
            </a:r>
            <a:endParaRPr sz="15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698075" y="813201"/>
            <a:ext cx="92181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2000"/>
              <a:buFont typeface="Lora"/>
              <a:buNone/>
            </a:pPr>
            <a:r>
              <a:rPr lang="en-US" sz="33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Índice de presentación: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98075" y="1613475"/>
            <a:ext cx="8174700" cy="4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1-. Portada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2-. Índice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3-. Contexto y objetivo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4-. Count-Min Sketch vs. Count Sketch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5-. Ventana deslizante y linealidad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6-. Alineación y Verificación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7-. Datos y configuración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8-. Resultados de ataque DDoS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9-. Resultados Scan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10-. Comparación CMS vs. CS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11-. Cambio de frecuencia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12-. Conclusiones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Source Sans 3"/>
              <a:buNone/>
            </a:pP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13-. </a:t>
            </a:r>
            <a:r>
              <a:rPr lang="en-US" sz="20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Cierre / Preguntas</a:t>
            </a:r>
            <a:endParaRPr sz="20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698011" y="602271"/>
            <a:ext cx="10795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2000"/>
              <a:buFont typeface="Lora"/>
              <a:buNone/>
            </a:pPr>
            <a:r>
              <a:rPr lang="en-US" sz="23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Contexto y o</a:t>
            </a:r>
            <a:r>
              <a:rPr lang="en-US" sz="23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bjetivos de la Investigación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698075" y="1412925"/>
            <a:ext cx="103395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75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50"/>
              <a:buFont typeface="Source Sans 3"/>
              <a:buAutoNum type="arabicPeriod"/>
            </a:pPr>
            <a:r>
              <a:rPr lang="en-US" sz="22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¿Qué hicimos en este trabajo?</a:t>
            </a:r>
            <a:endParaRPr sz="22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71475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50"/>
              <a:buFont typeface="Source Sans 3"/>
              <a:buAutoNum type="arabicPeriod"/>
            </a:pPr>
            <a:r>
              <a:rPr lang="en-US" sz="22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¿De donde sacamos los datos?</a:t>
            </a:r>
            <a:endParaRPr sz="22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71475" lvl="0" marL="457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50"/>
              <a:buFont typeface="Source Sans 3"/>
              <a:buAutoNum type="arabicPeriod"/>
            </a:pPr>
            <a:r>
              <a:rPr lang="en-US" sz="22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¿Por qué queremos contar la frecuencia?</a:t>
            </a:r>
            <a:endParaRPr sz="22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070" y="3849581"/>
            <a:ext cx="5217814" cy="1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>
            <a:off x="3187028" y="3958106"/>
            <a:ext cx="239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33"/>
              <a:buFont typeface="Lora"/>
              <a:buNone/>
            </a:pPr>
            <a:r>
              <a:rPr lang="en-US" sz="1833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18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876569" y="4435412"/>
            <a:ext cx="4861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66"/>
              <a:buFont typeface="Lora"/>
              <a:buNone/>
            </a:pPr>
            <a:r>
              <a:rPr lang="en-US" sz="146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Precisión vs. Memoria</a:t>
            </a:r>
            <a:endParaRPr sz="14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876569" y="4723020"/>
            <a:ext cx="486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46"/>
              <a:buFont typeface="Source Sans 3"/>
              <a:buNone/>
            </a:pPr>
            <a:r>
              <a:rPr lang="en-US" sz="1246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Caracterizar el compromiso entre exactitud estimada y huella de memoria.</a:t>
            </a:r>
            <a:endParaRPr sz="12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5873" y="3849581"/>
            <a:ext cx="5217957" cy="1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8404979" y="3958106"/>
            <a:ext cx="239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33"/>
              <a:buFont typeface="Lora"/>
              <a:buNone/>
            </a:pPr>
            <a:r>
              <a:rPr lang="en-US" sz="1833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18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094372" y="4435412"/>
            <a:ext cx="4861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66"/>
              <a:buFont typeface="Lora"/>
              <a:buNone/>
            </a:pPr>
            <a:r>
              <a:rPr lang="en-US" sz="146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Detección de Heavy Hitters</a:t>
            </a:r>
            <a:endParaRPr sz="14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094372" y="4723020"/>
            <a:ext cx="48612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46"/>
              <a:buFont typeface="Source Sans 3"/>
              <a:buNone/>
            </a:pPr>
            <a:r>
              <a:rPr lang="en-US" sz="1246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Validar la detección de ataques DDoS y Scan con medición de latencia.</a:t>
            </a:r>
            <a:endParaRPr sz="12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002" y="5297505"/>
            <a:ext cx="5217957" cy="1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3187090" y="5406030"/>
            <a:ext cx="239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33"/>
              <a:buFont typeface="Lora"/>
              <a:buNone/>
            </a:pPr>
            <a:r>
              <a:rPr lang="en-US" sz="1833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18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76500" y="5883337"/>
            <a:ext cx="4861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66"/>
              <a:buFont typeface="Lora"/>
              <a:buNone/>
            </a:pPr>
            <a:r>
              <a:rPr lang="en-US" sz="146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Estimación del Cambio de Frecuencia  (</a:t>
            </a:r>
            <a:r>
              <a:rPr lang="en-US" sz="1466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Δf )</a:t>
            </a:r>
            <a:endParaRPr sz="14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76500" y="6170944"/>
            <a:ext cx="48612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46"/>
              <a:buFont typeface="Source Sans 3"/>
              <a:buNone/>
            </a:pPr>
            <a:r>
              <a:rPr lang="en-US" sz="1246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Caracterización de variaciones temporales usando vectores de diferencia con signo </a:t>
            </a:r>
            <a:endParaRPr sz="12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1099724" y="984350"/>
            <a:ext cx="98061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500"/>
              <a:buFont typeface="Lora"/>
              <a:buNone/>
            </a:pPr>
            <a:r>
              <a:rPr lang="en-US" sz="3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CountSketch (CS) vs. Count-</a:t>
            </a:r>
            <a:r>
              <a:rPr lang="en-US" sz="3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Min Sketch (CMS) 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" name="Google Shape;56;p7"/>
          <p:cNvGraphicFramePr/>
          <p:nvPr/>
        </p:nvGraphicFramePr>
        <p:xfrm>
          <a:off x="698066" y="1869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{BA349681-CA61-4A56-929F-855FA4635AE5}</a:tableStyleId>
              </a:tblPr>
              <a:tblGrid>
                <a:gridCol w="3670575"/>
                <a:gridCol w="3562475"/>
                <a:gridCol w="3562475"/>
              </a:tblGrid>
              <a:tr h="82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Propiedad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CountSketch (CS)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CMS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Estimador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>
                          <a:solidFill>
                            <a:srgbClr val="D6E5EF"/>
                          </a:solidFill>
                        </a:rPr>
                        <a:t>Mediana ajustada por signo </a:t>
                      </a:r>
                      <a:endParaRPr sz="1450" u="none" cap="none" strike="noStrike">
                        <a:solidFill>
                          <a:srgbClr val="D6E5EF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>
                          <a:solidFill>
                            <a:srgbClr val="D6E5EF"/>
                          </a:solidFill>
                        </a:rPr>
                        <a:t>Mínimo de las celdas </a:t>
                      </a:r>
                      <a:endParaRPr sz="1450" u="none" cap="none" strike="noStrike">
                        <a:solidFill>
                          <a:srgbClr val="D6E5EF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Hashing y Signo </a:t>
                      </a:r>
                      <a:endParaRPr sz="1450" u="none" cap="none" strike="noStrike">
                        <a:solidFill>
                          <a:srgbClr val="D6E5EF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Posición h(x) y hash de signo s(x) con valores (+1 o -1) </a:t>
                      </a:r>
                      <a:endParaRPr sz="1450" u="none" cap="none" strike="noStrike">
                        <a:solidFill>
                          <a:srgbClr val="D6E5EF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Posición dada por hash h(x) con incremento positivo (+1) </a:t>
                      </a:r>
                      <a:endParaRPr sz="1450" u="none" cap="none" strike="noStrike">
                        <a:solidFill>
                          <a:srgbClr val="D6E5EF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Mecanismo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Hashes de signo ±1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Operador mínimo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Colisiones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Se cancelan aleatoriamente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Sesgado positivo (sobreestima por colisión )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Rendimiento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Domina en todos los w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E5EF"/>
                        </a:buClr>
                        <a:buSzPts val="1450"/>
                        <a:buFont typeface="Source Sans 3"/>
                        <a:buNone/>
                      </a:pPr>
                      <a:r>
                        <a:rPr lang="en-US" sz="1450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Competitivo solo si </a:t>
                      </a:r>
                      <a:r>
                        <a:rPr lang="en-US" sz="1450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w ≥ 1024 </a:t>
                      </a:r>
                      <a:endParaRPr sz="14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90125" marL="19012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698100" y="691024"/>
            <a:ext cx="109644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800"/>
              <a:buFont typeface="Lora"/>
              <a:buNone/>
            </a:pPr>
            <a:r>
              <a:rPr lang="en-US" sz="28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Modelo de Ventana Deslizante en Anillo y Linealidad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698100" y="1453285"/>
            <a:ext cx="5276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900"/>
              <a:buFont typeface="Lora"/>
              <a:buNone/>
            </a:pPr>
            <a:r>
              <a:rPr lang="en-US" sz="26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Principios de Diseño: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826" y="2371475"/>
            <a:ext cx="452950" cy="45300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/>
          <p:nvPr/>
        </p:nvSpPr>
        <p:spPr>
          <a:xfrm>
            <a:off x="1264675" y="2298725"/>
            <a:ext cx="73482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Parámetro : 6 subventanas temporales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(m = 6) de Δ  = 10 s cada una, más un acumulador agregado 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815" y="3238900"/>
            <a:ext cx="452950" cy="4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/>
          <p:nvPr/>
        </p:nvSpPr>
        <p:spPr>
          <a:xfrm>
            <a:off x="1337425" y="3216825"/>
            <a:ext cx="7202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Coste computacional O(d × w)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independiente de la densidad de paquetes</a:t>
            </a:r>
            <a:r>
              <a:rPr i="1" lang="en-US" sz="18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-US" sz="18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N_j,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gracias a la propiedad de linealidad. 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827" y="3957827"/>
            <a:ext cx="452942" cy="4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1378277" y="4040389"/>
            <a:ext cx="4952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9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Rotación incremental:</a:t>
            </a:r>
            <a:r>
              <a:rPr lang="en-US" sz="19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i="1" lang="en-US" sz="19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           </a:t>
            </a:r>
            <a:endParaRPr sz="19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lang="en-US" sz="19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 recomputación completa del sketch.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9000" y="4046425"/>
            <a:ext cx="2133658" cy="27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3512849" y="759775"/>
            <a:ext cx="51660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500"/>
              <a:buFont typeface="Lora"/>
              <a:buNone/>
            </a:pPr>
            <a:r>
              <a:rPr lang="en-US" sz="3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Alineación y Verificación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721175" y="2004700"/>
            <a:ext cx="52734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D6E5EF"/>
                </a:solidFill>
              </a:rPr>
              <a:t>Verificación de Coincidencia:</a:t>
            </a:r>
            <a:endParaRPr b="1" sz="1450">
              <a:solidFill>
                <a:srgbClr val="D6E5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D6E5EF"/>
                </a:solidFill>
              </a:rPr>
              <a:t>84 / 84 Ventanas (100%)</a:t>
            </a:r>
            <a:endParaRPr b="1" sz="1450">
              <a:solidFill>
                <a:srgbClr val="D6E5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D6E5EF"/>
                </a:solidFill>
              </a:rPr>
              <a:t>El conteo total de paquetes (Nj) estimado por el anillo coincidió de forma exacta contra la referencia real (Ground Truth) en todas las evaluaciones.</a:t>
            </a:r>
            <a:endParaRPr sz="1450">
              <a:solidFill>
                <a:srgbClr val="D6E5EF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D6E5EF"/>
              </a:buClr>
              <a:buSzPts val="1450"/>
              <a:buFont typeface="Source Sans 3"/>
              <a:buNone/>
            </a:pPr>
            <a:r>
              <a:t/>
            </a:r>
            <a:endParaRPr sz="14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709625" y="4254825"/>
            <a:ext cx="5273400" cy="1579500"/>
          </a:xfrm>
          <a:prstGeom prst="roundRect">
            <a:avLst>
              <a:gd fmla="val 2163" name="adj"/>
            </a:avLst>
          </a:prstGeom>
          <a:solidFill>
            <a:srgbClr val="7906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1113575" y="4465275"/>
            <a:ext cx="44886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Source Sans 3"/>
              <a:buNone/>
            </a:pPr>
            <a:r>
              <a:rPr b="1" lang="en-US" sz="1550">
                <a:solidFill>
                  <a:srgbClr val="FFFFFF"/>
                </a:solidFill>
              </a:rPr>
              <a:t>Punto de equilibrio:</a:t>
            </a:r>
            <a:r>
              <a:rPr lang="en-US" sz="1550">
                <a:solidFill>
                  <a:srgbClr val="FFFFFF"/>
                </a:solidFill>
              </a:rPr>
              <a:t> </a:t>
            </a:r>
            <a:endParaRPr i="1" sz="145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Source Sans 3"/>
              <a:buNone/>
            </a:pPr>
            <a:r>
              <a:rPr i="1" lang="en-US" sz="1450">
                <a:solidFill>
                  <a:srgbClr val="FFFFFF"/>
                </a:solidFill>
              </a:rPr>
              <a:t>w =</a:t>
            </a:r>
            <a:r>
              <a:rPr lang="en-US" sz="1450">
                <a:solidFill>
                  <a:srgbClr val="FFFFFF"/>
                </a:solidFill>
              </a:rPr>
              <a:t> 1024(280 KiB) </a:t>
            </a:r>
            <a:r>
              <a:rPr lang="en-US" sz="1550">
                <a:solidFill>
                  <a:srgbClr val="FFFFFF"/>
                </a:solidFill>
              </a:rPr>
              <a:t>ofrece el mejor balance coste-beneficio entre memoria y precisión para ambas estructuras.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6282900" y="3307075"/>
            <a:ext cx="53226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D6E5EF"/>
                </a:solidFill>
              </a:rPr>
              <a:t>Cobertura Experimental:</a:t>
            </a:r>
            <a:r>
              <a:rPr lang="en-US" sz="1450">
                <a:solidFill>
                  <a:srgbClr val="D6E5EF"/>
                </a:solidFill>
              </a:rPr>
              <a:t> </a:t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D6E5EF"/>
                </a:solidFill>
              </a:rPr>
              <a:t>Se verificó la coincidencia exacta en las 84 ventanas de las 8 corridas del experimento (traza base, DDoS y Scan en todos los anchos w) </a:t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6307500" y="1949150"/>
            <a:ext cx="52734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D6E5EF"/>
                </a:solidFill>
              </a:rPr>
              <a:t>Mecanismo de Verificación</a:t>
            </a:r>
            <a:r>
              <a:rPr lang="en-US" sz="1450">
                <a:solidFill>
                  <a:srgbClr val="D6E5EF"/>
                </a:solidFill>
              </a:rPr>
              <a:t>: Se usó un anillo paralelo de 6 contadores escalares para monitorear el volumen exacto de paquetes (N_j) en cada ventana activa de 60 segundos. </a:t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D6E5EF"/>
                </a:solidFill>
              </a:rPr>
              <a:t>Permite calcular el valor de referencia de Ground Truth con costo O(1) sin almacenar paquetes individuales en memoria.</a:t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50">
              <a:solidFill>
                <a:srgbClr val="D6E5EF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D6E5EF"/>
              </a:buClr>
              <a:buSzPts val="1450"/>
              <a:buFont typeface="Source Sans 3"/>
              <a:buNone/>
            </a:pPr>
            <a:r>
              <a:t/>
            </a:r>
            <a:endParaRPr sz="14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6307500" y="1806250"/>
            <a:ext cx="5273400" cy="2389800"/>
          </a:xfrm>
          <a:prstGeom prst="roundRect">
            <a:avLst>
              <a:gd fmla="val 2163" name="adj"/>
            </a:avLst>
          </a:prstGeom>
          <a:solidFill>
            <a:srgbClr val="7906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99900" y="1968700"/>
            <a:ext cx="4488600" cy="18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D6E5EF"/>
                </a:solidFill>
              </a:rPr>
              <a:t>Mecanismo de Verificación</a:t>
            </a:r>
            <a:r>
              <a:rPr lang="en-US" sz="1450">
                <a:solidFill>
                  <a:srgbClr val="D6E5EF"/>
                </a:solidFill>
              </a:rPr>
              <a:t>:</a:t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D6E5EF"/>
                </a:solidFill>
              </a:rPr>
              <a:t>Se usó un anillo paralelo de 6 contadores escalares para monitorear el volumen exacto de paquetes (N_j) en cada ventana activa de 60 segundos. </a:t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D6E5EF"/>
                </a:solidFill>
              </a:rPr>
              <a:t>Permite calcular el valor de referencia de Ground Truth con costo O(1) sin almacenar paquetes individuales en memoria.</a:t>
            </a:r>
            <a:endParaRPr b="1" sz="155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520275" y="681826"/>
            <a:ext cx="10795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800"/>
              <a:buFont typeface="Lora"/>
              <a:buNone/>
            </a:pPr>
            <a:r>
              <a:rPr lang="en-US" sz="38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Datos y Configuración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026" y="2123875"/>
            <a:ext cx="452950" cy="45300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/>
          <p:nvPr/>
        </p:nvSpPr>
        <p:spPr>
          <a:xfrm>
            <a:off x="948525" y="2210325"/>
            <a:ext cx="5190900" cy="3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Traza de red real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</a:t>
            </a:r>
            <a:endParaRPr b="1"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t/>
            </a:r>
            <a:endParaRPr b="1"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	Origen: MAWI 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(enlace transpacífico WIDE, Japón-EEUU, diciembre 2018).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t/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	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Escala: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Aproximadamente 123,4 millones de paquetes en 900 segundos.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t/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	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Volumen por ventana: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Entre 7,4 y 8,8 millones de paquetes por ventana activa.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0940" y="2068850"/>
            <a:ext cx="452950" cy="4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/>
          <p:nvPr/>
        </p:nvSpPr>
        <p:spPr>
          <a:xfrm>
            <a:off x="6574625" y="2068850"/>
            <a:ext cx="5114700" cy="44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Estructura y Huella de Memoria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:</a:t>
            </a:r>
            <a:endParaRPr b="1"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t/>
            </a:r>
            <a:endParaRPr b="1"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	Arreglos: 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 = 5 funciones hash con contadores enteros de 64 bits.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t/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	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Escalabilidad por ancho(</a:t>
            </a:r>
            <a:r>
              <a:rPr i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):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		</a:t>
            </a:r>
            <a:r>
              <a:rPr i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= 256 -&gt; 70 KiB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i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 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= 1024 -&gt; 280 KiB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i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 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= 4096 -&gt; 1,09 MiB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t/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	</a:t>
            </a:r>
            <a:r>
              <a:rPr b="1"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Organización:</a:t>
            </a:r>
            <a:r>
              <a:rPr lang="en-US" sz="18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7 tablas por sketch (6 sub-ventanas + 1 acumulador activo)</a:t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750"/>
              <a:buFont typeface="Source Sans 3"/>
              <a:buNone/>
            </a:pPr>
            <a:r>
              <a:t/>
            </a:r>
            <a:endParaRPr sz="185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698086" y="727968"/>
            <a:ext cx="1771800" cy="250800"/>
          </a:xfrm>
          <a:prstGeom prst="roundRect">
            <a:avLst>
              <a:gd fmla="val 7900" name="adj"/>
            </a:avLst>
          </a:prstGeom>
          <a:noFill/>
          <a:ln cap="flat" cmpd="sng" w="9525">
            <a:solidFill>
              <a:srgbClr val="F98A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797103" y="777478"/>
            <a:ext cx="2183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04 · ESCENARIOS DE ATAQUE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98086" y="1259462"/>
            <a:ext cx="62235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050"/>
              <a:buFont typeface="Lora"/>
              <a:buNone/>
            </a:pPr>
            <a:r>
              <a:rPr lang="en-US" sz="365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Detección de Ataques: DDoS</a:t>
            </a:r>
            <a:endParaRPr sz="3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698064" y="2210500"/>
            <a:ext cx="6223500" cy="2012100"/>
          </a:xfrm>
          <a:prstGeom prst="roundRect">
            <a:avLst>
              <a:gd fmla="val 123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863182" y="2375595"/>
            <a:ext cx="495600" cy="495600"/>
          </a:xfrm>
          <a:prstGeom prst="ellipse">
            <a:avLst/>
          </a:prstGeom>
          <a:solidFill>
            <a:srgbClr val="6EB9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405" y="2511822"/>
            <a:ext cx="222939" cy="222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863182" y="3007816"/>
            <a:ext cx="2713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Lora"/>
              <a:buNone/>
            </a:pPr>
            <a:r>
              <a:rPr lang="en-US" sz="15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DDoS — IP Destino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923025" y="3335588"/>
            <a:ext cx="5773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rPr b="1"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10.000 pps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dirigidos a una única víctima. Se monitoriza por </a:t>
            </a:r>
            <a:r>
              <a:rPr b="1"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IP destino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para capturar la agregación del ataque.</a:t>
            </a:r>
            <a:endParaRPr sz="130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rPr b="1"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4.000 IPs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origen distribuidas durante 30 s (300.000 paquetes).</a:t>
            </a:r>
            <a:endParaRPr sz="130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698075" y="4317525"/>
            <a:ext cx="6223500" cy="1812600"/>
          </a:xfrm>
          <a:prstGeom prst="roundRect">
            <a:avLst>
              <a:gd fmla="val 1400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863175" y="4524475"/>
            <a:ext cx="495600" cy="495600"/>
          </a:xfrm>
          <a:prstGeom prst="ellipse">
            <a:avLst/>
          </a:prstGeom>
          <a:solidFill>
            <a:srgbClr val="6EB9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9405" y="4660702"/>
            <a:ext cx="222939" cy="22294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863182" y="5156696"/>
            <a:ext cx="5893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Lora"/>
              <a:buNone/>
            </a:pPr>
            <a:r>
              <a:rPr lang="en-US" sz="15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Umbral de Detección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863182" y="5481638"/>
            <a:ext cx="5893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Heavy Hitters con          </a:t>
            </a:r>
            <a:r>
              <a:rPr i="1" lang="en-US" sz="12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    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(1 % del tráfico total </a:t>
            </a:r>
            <a:r>
              <a:rPr i="1" lang="en-US" sz="12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  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). Inyección sintética sobre tráfico real MAWI.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6525" y="5503825"/>
            <a:ext cx="641725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26516" y="5482663"/>
            <a:ext cx="190594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698086" y="4359374"/>
            <a:ext cx="6223500" cy="1770600"/>
          </a:xfrm>
          <a:prstGeom prst="roundRect">
            <a:avLst>
              <a:gd fmla="val 1400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863182" y="4524474"/>
            <a:ext cx="495600" cy="495600"/>
          </a:xfrm>
          <a:prstGeom prst="ellipse">
            <a:avLst/>
          </a:prstGeom>
          <a:solidFill>
            <a:srgbClr val="6EB9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9405" y="4660702"/>
            <a:ext cx="222939" cy="22294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1"/>
          <p:cNvSpPr/>
          <p:nvPr/>
        </p:nvSpPr>
        <p:spPr>
          <a:xfrm>
            <a:off x="863182" y="5156696"/>
            <a:ext cx="5893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Lora"/>
              <a:buNone/>
            </a:pPr>
            <a:r>
              <a:rPr lang="en-US" sz="15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Umbral de Detección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863182" y="5481638"/>
            <a:ext cx="5893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Heavy Hitters con           </a:t>
            </a:r>
            <a:r>
              <a:rPr i="1" lang="en-US" sz="12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    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(1 % del tráfico total </a:t>
            </a:r>
            <a:r>
              <a:rPr i="1" lang="en-US" sz="12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  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). Inyección sintética sobre tráfico real MAWI.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2333" y="5502238"/>
            <a:ext cx="607799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8891" y="5481638"/>
            <a:ext cx="190594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698086" y="727968"/>
            <a:ext cx="1771804" cy="250924"/>
          </a:xfrm>
          <a:prstGeom prst="roundRect">
            <a:avLst>
              <a:gd fmla="val 7900" name="adj"/>
            </a:avLst>
          </a:prstGeom>
          <a:noFill/>
          <a:ln cap="flat" cmpd="sng" w="9525">
            <a:solidFill>
              <a:srgbClr val="F98A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797103" y="777478"/>
            <a:ext cx="2183353" cy="151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04 · ESCENARIOS DE ATAQUE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698161" y="1259512"/>
            <a:ext cx="62235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050"/>
              <a:buFont typeface="Lora"/>
              <a:buNone/>
            </a:pPr>
            <a:r>
              <a:rPr lang="en-US" sz="365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Detección de Ataques: Scan</a:t>
            </a:r>
            <a:endParaRPr sz="3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725175" y="2210500"/>
            <a:ext cx="6196500" cy="2012100"/>
          </a:xfrm>
          <a:prstGeom prst="roundRect">
            <a:avLst>
              <a:gd fmla="val 123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971899" y="2389295"/>
            <a:ext cx="495600" cy="495600"/>
          </a:xfrm>
          <a:prstGeom prst="ellipse">
            <a:avLst/>
          </a:prstGeom>
          <a:solidFill>
            <a:srgbClr val="6EB9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123" y="2525522"/>
            <a:ext cx="222939" cy="22294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2"/>
          <p:cNvSpPr/>
          <p:nvPr/>
        </p:nvSpPr>
        <p:spPr>
          <a:xfrm>
            <a:off x="971899" y="2965966"/>
            <a:ext cx="2713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Lora"/>
              <a:buNone/>
            </a:pPr>
            <a:r>
              <a:rPr lang="en-US" sz="15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Scan — IP Origen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931125" y="3498625"/>
            <a:ext cx="57846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rPr b="1"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8.000 pps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sondeando 60.000 destinos durante 30 segundos. Se monitoriza por </a:t>
            </a:r>
            <a:r>
              <a:rPr b="1"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IP origen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como fuente emisora masiva.</a:t>
            </a:r>
            <a:endParaRPr sz="130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t/>
            </a:r>
            <a:endParaRPr sz="130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t/>
            </a:r>
            <a:endParaRPr sz="1300">
              <a:solidFill>
                <a:srgbClr val="D6E5E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698086" y="4359374"/>
            <a:ext cx="6223638" cy="1770559"/>
          </a:xfrm>
          <a:prstGeom prst="roundRect">
            <a:avLst>
              <a:gd fmla="val 1400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863182" y="4524474"/>
            <a:ext cx="495486" cy="495498"/>
          </a:xfrm>
          <a:prstGeom prst="ellipse">
            <a:avLst/>
          </a:prstGeom>
          <a:solidFill>
            <a:srgbClr val="6EB9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9405" y="4660702"/>
            <a:ext cx="222939" cy="22294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/>
          <p:nvPr/>
        </p:nvSpPr>
        <p:spPr>
          <a:xfrm>
            <a:off x="863182" y="5156696"/>
            <a:ext cx="5893446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Lora"/>
              <a:buNone/>
            </a:pPr>
            <a:r>
              <a:rPr lang="en-US" sz="15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Umbral de Detección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863182" y="5481638"/>
            <a:ext cx="5893446" cy="4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Heavy Hitters con           </a:t>
            </a:r>
            <a:r>
              <a:rPr i="1" lang="en-US" sz="12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    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(1 % del tráfico total </a:t>
            </a:r>
            <a:r>
              <a:rPr i="1" lang="en-US" sz="1200">
                <a:solidFill>
                  <a:srgbClr val="D6E5EF"/>
                </a:solidFill>
                <a:latin typeface="Consolas"/>
                <a:ea typeface="Consolas"/>
                <a:cs typeface="Consolas"/>
                <a:sym typeface="Consolas"/>
              </a:rPr>
              <a:t>  </a:t>
            </a:r>
            <a:r>
              <a:rPr lang="en-US" sz="13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). Inyección sintética sobre tráfico real MAWI.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2333" y="5502238"/>
            <a:ext cx="607799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8891" y="5481638"/>
            <a:ext cx="190594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/>
          <p:nvPr/>
        </p:nvSpPr>
        <p:spPr>
          <a:xfrm>
            <a:off x="698099" y="378362"/>
            <a:ext cx="10795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150"/>
              <a:buFont typeface="Lora"/>
              <a:buNone/>
            </a:pPr>
            <a:r>
              <a:rPr lang="en-US" sz="315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Comparación de Resultados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5962700" y="5245397"/>
            <a:ext cx="5188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Source Sans 3"/>
              <a:buNone/>
            </a:pPr>
            <a:r>
              <a:rPr lang="en-US" sz="160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CountSketch ofrece mayor precisión con la misma memoria (MRE de 0.16% en CS frente a 4.11% en CMS durante el ataque DDoS con w = 256)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3" title="fig_error_h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75" y="4049025"/>
            <a:ext cx="4502077" cy="24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 title="fig_scatter_est_ex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575" y="1410211"/>
            <a:ext cx="4502077" cy="241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3"/>
          <p:cNvSpPr/>
          <p:nvPr/>
        </p:nvSpPr>
        <p:spPr>
          <a:xfrm>
            <a:off x="5445350" y="1598950"/>
            <a:ext cx="6223500" cy="1599900"/>
          </a:xfrm>
          <a:prstGeom prst="roundRect">
            <a:avLst>
              <a:gd fmla="val 123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El Csm </a:t>
            </a: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concentra</a:t>
            </a: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 los puntos por encima de la diagonal debido a su sesgo positivo del operador </a:t>
            </a: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mínimo</a:t>
            </a: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 (sobreconteo)</a:t>
            </a:r>
            <a:endParaRPr sz="1600">
              <a:solidFill>
                <a:srgbClr val="D6E5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6E5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CountSketch distribuye los puntos simétricamente sobre la diagonal (y = x), demostrando que es un estimador insesgado. </a:t>
            </a:r>
            <a:endParaRPr sz="1600">
              <a:solidFill>
                <a:srgbClr val="D6E5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5445350" y="3422175"/>
            <a:ext cx="6223500" cy="1599900"/>
          </a:xfrm>
          <a:prstGeom prst="roundRect">
            <a:avLst>
              <a:gd fmla="val 123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CMS presenta un error relativo desplazado a la derecha </a:t>
            </a:r>
            <a:endParaRPr sz="1600">
              <a:solidFill>
                <a:srgbClr val="D6E5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6E5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CountSketch mantiene la curva centrada exactamente en 0% de error, estrechándose al aumentar el ancho w </a:t>
            </a: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D6E5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698086" y="240119"/>
            <a:ext cx="107955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2500"/>
              <a:buFont typeface="Lora"/>
              <a:buNone/>
            </a:pPr>
            <a:r>
              <a:rPr lang="en-US" sz="2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Estimación del Cambio de Frecuencia </a:t>
            </a:r>
            <a:r>
              <a:rPr i="1" lang="en-US" sz="2350">
                <a:solidFill>
                  <a:srgbClr val="F98AC7"/>
                </a:solidFill>
                <a:latin typeface="Consolas"/>
                <a:ea typeface="Consolas"/>
                <a:cs typeface="Consolas"/>
                <a:sym typeface="Consolas"/>
              </a:rPr>
              <a:t>  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4" title="fig_scan_del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75" y="3917524"/>
            <a:ext cx="6034473" cy="247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 title="fig_ddos_del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275" y="1057950"/>
            <a:ext cx="6034473" cy="247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4"/>
          <p:cNvSpPr/>
          <p:nvPr/>
        </p:nvSpPr>
        <p:spPr>
          <a:xfrm>
            <a:off x="6332650" y="1057950"/>
            <a:ext cx="5626200" cy="5330400"/>
          </a:xfrm>
          <a:prstGeom prst="roundRect">
            <a:avLst>
              <a:gd fmla="val 123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6E5EF"/>
                </a:solidFill>
                <a:latin typeface="Calibri"/>
                <a:ea typeface="Calibri"/>
                <a:cs typeface="Calibri"/>
                <a:sym typeface="Calibri"/>
              </a:rPr>
              <a:t>Interpretación del Ciclo de Vida:</a:t>
            </a:r>
            <a:endParaRPr sz="1600">
              <a:solidFill>
                <a:srgbClr val="D6E5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6E5EF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Salto positivo abrupto marca el inicio del ataque(+100,000 paquetes en DDoS y +80,000 en Scan en la subventana) </a:t>
            </a:r>
            <a:endParaRPr>
              <a:solidFill>
                <a:srgbClr val="D6E5EF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Meseta estacionaria: Ocurre durante la fase activa del ataque, aislando el cambio del volumen total. </a:t>
            </a:r>
            <a:endParaRPr>
              <a:solidFill>
                <a:srgbClr val="D6E5EF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Caída negativa abrupta: Ocurre cuando la subventana que contenía el ataque expira del acumulador.</a:t>
            </a:r>
            <a:endParaRPr>
              <a:solidFill>
                <a:srgbClr val="D6E5E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6E5EF"/>
                </a:solidFill>
              </a:rPr>
              <a:t>CountSketch vs.CMS:</a:t>
            </a:r>
            <a:endParaRPr>
              <a:solidFill>
                <a:srgbClr val="D6E5EF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CountSketch: Mantiene su estimador habitualmente insesgado gracias a sus hashes de signo (+1 / -1) sobre el vector con signo </a:t>
            </a:r>
            <a:endParaRPr>
              <a:solidFill>
                <a:srgbClr val="D6E5EF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CMS: En vectores con signo, CMS no puede usar el "Mínimo", por lo que recurre a la mediana como heurística práctica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6E5EF"/>
                </a:solidFill>
              </a:rPr>
              <a:t>A partir de w = 1024, ambos estimadores recuperan el signo y la magnitud exacta de los picos de variación con un error menor </a:t>
            </a:r>
            <a:r>
              <a:rPr lang="en-US">
                <a:solidFill>
                  <a:srgbClr val="D6E5EF"/>
                </a:solidFill>
              </a:rPr>
              <a:t>mínima</a:t>
            </a:r>
            <a:endParaRPr>
              <a:solidFill>
                <a:srgbClr val="D6E5EF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/>
          <p:nvPr/>
        </p:nvSpPr>
        <p:spPr>
          <a:xfrm>
            <a:off x="579011" y="388022"/>
            <a:ext cx="107955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650"/>
              <a:buFont typeface="Lora"/>
              <a:buNone/>
            </a:pPr>
            <a:r>
              <a:rPr lang="en-US" sz="365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Conclusiones</a:t>
            </a:r>
            <a:endParaRPr sz="3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5" title="fig_frontera_mre_me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25" y="1252124"/>
            <a:ext cx="5961149" cy="238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 txBox="1"/>
          <p:nvPr/>
        </p:nvSpPr>
        <p:spPr>
          <a:xfrm>
            <a:off x="7048950" y="1252125"/>
            <a:ext cx="47001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6E5EF"/>
                </a:solidFill>
              </a:rPr>
              <a:t>Compromiso Precisión vs. Memoria</a:t>
            </a:r>
            <a:endParaRPr b="1">
              <a:solidFill>
                <a:srgbClr val="D6E5E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6E5E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La memoria de contadores crece de forma estrictamente lineal con el ancho w </a:t>
            </a:r>
            <a:endParaRPr>
              <a:solidFill>
                <a:srgbClr val="D6E5E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CountSketch supera a CMS en todos los anchos evaluados </a:t>
            </a:r>
            <a:endParaRPr>
              <a:solidFill>
                <a:srgbClr val="D6E5E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El ancho w = 1024 representa el punto óptimo de equilibrio reduce el error un orden de magnitud respecto a w = 256 sin disparar el consumo de memoria. </a:t>
            </a:r>
            <a:endParaRPr>
              <a:solidFill>
                <a:srgbClr val="D6E5EF"/>
              </a:solidFill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462325" y="3810000"/>
            <a:ext cx="48483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D6E5EF"/>
                </a:solidFill>
              </a:rPr>
              <a:t>Robustez del Estimador</a:t>
            </a:r>
            <a:r>
              <a:rPr lang="en-US">
                <a:solidFill>
                  <a:srgbClr val="D6E5EF"/>
                </a:solidFill>
              </a:rPr>
              <a:t>:</a:t>
            </a:r>
            <a:endParaRPr>
              <a:solidFill>
                <a:srgbClr val="D6E5E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CountSketch: Es insesgado por sus hashes de signo y filtra valores atípicos con la mediana, siendo la opción indispensable cuando la memoria es muy restringida.</a:t>
            </a:r>
            <a:endParaRPr>
              <a:solidFill>
                <a:srgbClr val="D6E5E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Count-Min Sketch (CMS): Acumula sesgo positivo por colisiones en w pequeños (lo que ocasionó el falso positivo adelantado en Scan a w = 256). Vuelve a ser competitivo únicamente en anchos grandes (w ≥ 1024) </a:t>
            </a:r>
            <a:endParaRPr>
              <a:solidFill>
                <a:srgbClr val="D6E5EF"/>
              </a:solidFill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7130525" y="4128000"/>
            <a:ext cx="4410900" cy="2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6E5EF"/>
                </a:solidFill>
              </a:rPr>
              <a:t>Eficacia de la Ventana Deslizante:</a:t>
            </a:r>
            <a:endParaRPr b="1">
              <a:solidFill>
                <a:srgbClr val="D6E5E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6E5EF"/>
              </a:buClr>
              <a:buSzPts val="1400"/>
              <a:buChar char="●"/>
            </a:pPr>
            <a:r>
              <a:rPr lang="en-US">
                <a:solidFill>
                  <a:srgbClr val="D6E5EF"/>
                </a:solidFill>
              </a:rPr>
              <a:t>La arquitectura en anillo con m = 6 sub-ventanas aprovecha la linealidad para mantener un costo de actualización O(dw) determinista e independiente del volumen de paquetes N_j.</a:t>
            </a:r>
            <a:endParaRPr>
              <a:solidFill>
                <a:srgbClr val="D6E5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/>
          <p:nvPr/>
        </p:nvSpPr>
        <p:spPr>
          <a:xfrm>
            <a:off x="1579950" y="2818250"/>
            <a:ext cx="95250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2500"/>
              <a:buFont typeface="Lora"/>
              <a:buNone/>
            </a:pPr>
            <a:r>
              <a:rPr lang="en-US" sz="36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¡Muchas gracias por su atención!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